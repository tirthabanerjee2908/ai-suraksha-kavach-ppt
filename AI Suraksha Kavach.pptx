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5FF2C7-FBFB-443A-AAD1-4D1FE5962838}" v="31" dt="2026-09-23T12:03:24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75E18A-8CB8-4DFC-9E3D-8A5FA351B6BA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5953B-B248-4081-90EB-408CFF9661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611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D5953B-B248-4081-90EB-408CFF9661A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854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6858000" cy="2266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defRPr sz="5400" b="1">
                <a:solidFill>
                  <a:srgbClr val="0F172A"/>
                </a:solidFill>
                <a:latin typeface="Arial"/>
              </a:defRPr>
            </a:pPr>
            <a:r>
              <a:rPr dirty="0"/>
              <a:t>AI Suraksha</a:t>
            </a:r>
            <a:br>
              <a:rPr dirty="0"/>
            </a:br>
            <a:r>
              <a:rPr dirty="0"/>
              <a:t>Kavach</a:t>
            </a:r>
          </a:p>
          <a:p>
            <a:pPr>
              <a:spcBef>
                <a:spcPts val="2000"/>
              </a:spcBef>
              <a:defRPr sz="2200" b="1">
                <a:solidFill>
                  <a:srgbClr val="1E3A8A"/>
                </a:solidFill>
                <a:latin typeface="Arial"/>
              </a:defRPr>
            </a:pPr>
            <a:r>
              <a:rPr u="sng" dirty="0"/>
              <a:t>Stay Alert. Stay Secure. Stay Protected.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617720"/>
            <a:ext cx="65836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1700" dirty="0"/>
              <a:t>Team Members</a:t>
            </a:r>
            <a:r>
              <a:rPr sz="1450" dirty="0"/>
              <a:t>: </a:t>
            </a:r>
            <a:r>
              <a:rPr sz="1550" b="0" dirty="0"/>
              <a:t>Tirtha Banerjee, </a:t>
            </a:r>
            <a:r>
              <a:rPr sz="1550" b="0" dirty="0" err="1"/>
              <a:t>Srijeeta</a:t>
            </a:r>
            <a:r>
              <a:rPr sz="1550" b="0" dirty="0"/>
              <a:t> Joy, </a:t>
            </a:r>
            <a:r>
              <a:rPr sz="1550" b="0" dirty="0" err="1"/>
              <a:t>Saptaparna</a:t>
            </a:r>
            <a:r>
              <a:rPr sz="1550" b="0" dirty="0"/>
              <a:t> Mitra, Avirup Chattopadhyay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rPr lang="en-IN" sz="1450" dirty="0"/>
              <a:t>   </a:t>
            </a:r>
            <a:r>
              <a:rPr sz="1700" dirty="0"/>
              <a:t>Institution</a:t>
            </a:r>
            <a:r>
              <a:rPr sz="1450" dirty="0"/>
              <a:t>:</a:t>
            </a:r>
            <a:r>
              <a:rPr lang="en-IN" sz="1450" dirty="0"/>
              <a:t> </a:t>
            </a:r>
            <a:r>
              <a:rPr sz="1550" b="0" dirty="0"/>
              <a:t>Institute of Engineering &amp; Management (IEM), Kolkata</a:t>
            </a:r>
            <a:endParaRPr lang="en-IN" sz="1550" b="0" dirty="0"/>
          </a:p>
          <a:p>
            <a:pPr algn="ctr">
              <a:spcBef>
                <a:spcPts val="600"/>
              </a:spcBef>
              <a:defRPr sz="1300" b="1">
                <a:solidFill>
                  <a:srgbClr val="0F172A"/>
                </a:solidFill>
              </a:defRPr>
            </a:pPr>
            <a:r>
              <a:rPr sz="1700" dirty="0"/>
              <a:t>Track:</a:t>
            </a:r>
            <a:r>
              <a:rPr sz="1450" dirty="0"/>
              <a:t> </a:t>
            </a:r>
            <a:r>
              <a:rPr lang="en-IN" sz="155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Innovation</a:t>
            </a:r>
            <a:endParaRPr sz="155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0" y="914400"/>
            <a:ext cx="36576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8229600" y="1463040"/>
            <a:ext cx="2743200" cy="2926080"/>
          </a:xfrm>
          <a:prstGeom prst="hexagon">
            <a:avLst/>
          </a:prstGeom>
          <a:solidFill>
            <a:srgbClr val="EEF2FF"/>
          </a:solidFill>
          <a:ln w="381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>
            <a:off x="8595360" y="1828800"/>
            <a:ext cx="2011680" cy="2194560"/>
          </a:xfrm>
          <a:prstGeom prst="hexagon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2224" y="4937760"/>
            <a:ext cx="3757953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17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AI-Powered Multi-Modal Defense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E7BE09-CD19-64D3-AC75-2F2CC768A88F}"/>
              </a:ext>
            </a:extLst>
          </p:cNvPr>
          <p:cNvSpPr txBox="1"/>
          <p:nvPr/>
        </p:nvSpPr>
        <p:spPr>
          <a:xfrm>
            <a:off x="3760838" y="96841"/>
            <a:ext cx="4011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TEAM: BINARY BRAINS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10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lang="en-IN" sz="2600" dirty="0"/>
              <a:t>Growing Threat of</a:t>
            </a:r>
            <a:r>
              <a:rPr sz="2600" dirty="0"/>
              <a:t> Multi-M</a:t>
            </a:r>
            <a:r>
              <a:rPr lang="en-IN" sz="2600" dirty="0"/>
              <a:t>odal</a:t>
            </a:r>
            <a:r>
              <a:rPr sz="2600" dirty="0"/>
              <a:t> Cyber Fraud &amp; Social Engineering</a:t>
            </a:r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rPr sz="1150" dirty="0"/>
              <a:t>02.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68212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28416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50" u="sng" dirty="0"/>
              <a:t>PROBLEM ADDRESSED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962656" cy="3690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rPr sz="1550" i="1" dirty="0"/>
              <a:t>Rapid Spread of Scam Content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50" dirty="0"/>
              <a:t>• </a:t>
            </a:r>
            <a:r>
              <a:rPr lang="en-IN" sz="1450" dirty="0"/>
              <a:t>Increasingly </a:t>
            </a:r>
            <a:r>
              <a:rPr sz="1450" dirty="0"/>
              <a:t>sophisticated</a:t>
            </a:r>
            <a:r>
              <a:rPr lang="en-IN" sz="1450" dirty="0"/>
              <a:t> phishing and</a:t>
            </a:r>
            <a:r>
              <a:rPr sz="1450" dirty="0"/>
              <a:t> social engineering</a:t>
            </a:r>
            <a:r>
              <a:rPr lang="en-IN" sz="1450" dirty="0"/>
              <a:t> </a:t>
            </a:r>
            <a:r>
              <a:rPr sz="1450" dirty="0"/>
              <a:t>attacks</a:t>
            </a:r>
            <a:r>
              <a:rPr lang="en-IN" sz="1450" dirty="0"/>
              <a:t> are spreading </a:t>
            </a:r>
            <a:r>
              <a:rPr sz="1450" dirty="0"/>
              <a:t>across</a:t>
            </a:r>
            <a:r>
              <a:rPr lang="en-IN" sz="1450" dirty="0"/>
              <a:t> multiple</a:t>
            </a:r>
            <a:r>
              <a:rPr sz="1450" dirty="0"/>
              <a:t> digital channels.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50" dirty="0"/>
              <a:t>• Deceptive URLs,</a:t>
            </a:r>
            <a:r>
              <a:rPr lang="en-IN" sz="1450" dirty="0"/>
              <a:t> fraudulent</a:t>
            </a:r>
            <a:r>
              <a:rPr sz="1450" dirty="0"/>
              <a:t> SMS</a:t>
            </a:r>
            <a:r>
              <a:rPr lang="en-IN" sz="1450" dirty="0"/>
              <a:t> messages</a:t>
            </a:r>
            <a:r>
              <a:rPr sz="1450" dirty="0"/>
              <a:t>, scam emails, and malicious QR codes</a:t>
            </a:r>
            <a:r>
              <a:rPr lang="en-IN" sz="1450" dirty="0"/>
              <a:t> can trick users into revealing sensitive information.</a:t>
            </a:r>
            <a:endParaRPr sz="1450" dirty="0"/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50" dirty="0"/>
              <a:t>• </a:t>
            </a:r>
            <a:r>
              <a:rPr lang="en-IN" sz="1450" dirty="0"/>
              <a:t>Suspicious text can also be embedded inside images, screenshots, and other media, making conventional text-based analysis insufficient.</a:t>
            </a:r>
            <a:endParaRPr sz="1450" dirty="0"/>
          </a:p>
        </p:txBody>
      </p:sp>
      <p:sp>
        <p:nvSpPr>
          <p:cNvPr id="6" name="Rounded Rectangle 5"/>
          <p:cNvSpPr/>
          <p:nvPr/>
        </p:nvSpPr>
        <p:spPr>
          <a:xfrm>
            <a:off x="4379976" y="1463040"/>
            <a:ext cx="3328416" cy="468212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79976" y="1463040"/>
            <a:ext cx="3328416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50" u="sng" dirty="0"/>
              <a:t>TARGET </a:t>
            </a:r>
            <a:r>
              <a:rPr lang="en-IN" sz="1650" u="sng" dirty="0"/>
              <a:t>USERS / PEOPLE</a:t>
            </a:r>
            <a:r>
              <a:rPr sz="1650" u="sng" dirty="0"/>
              <a:t> AFFECTED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2856" y="2286000"/>
            <a:ext cx="2962656" cy="2921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rPr sz="1550" i="1" dirty="0"/>
              <a:t>Vulnerable Digital Consumers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50" dirty="0"/>
              <a:t>• Everyday internet users and online shopper</a:t>
            </a:r>
            <a:r>
              <a:rPr lang="en-IN" sz="1450" dirty="0"/>
              <a:t>s exposed to unsolicited or deceptive digital content.</a:t>
            </a:r>
            <a:endParaRPr sz="1450" dirty="0"/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50" dirty="0"/>
              <a:t>• Digital payment and mobile banking users targeted</a:t>
            </a:r>
            <a:r>
              <a:rPr lang="en-IN" sz="1450" dirty="0"/>
              <a:t> by phishing and</a:t>
            </a:r>
            <a:r>
              <a:rPr sz="1450" dirty="0"/>
              <a:t> credential</a:t>
            </a:r>
            <a:r>
              <a:rPr lang="en-IN" sz="1450" dirty="0"/>
              <a:t>-theft attempts.</a:t>
            </a:r>
            <a:endParaRPr sz="1450" dirty="0"/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50" dirty="0"/>
              <a:t>• Non-technical </a:t>
            </a:r>
            <a:r>
              <a:rPr lang="en-IN" sz="1450" dirty="0"/>
              <a:t>users </a:t>
            </a:r>
            <a:r>
              <a:rPr sz="1450" dirty="0"/>
              <a:t>and remote workers </a:t>
            </a:r>
            <a:r>
              <a:rPr lang="en-IN" sz="1450" dirty="0"/>
              <a:t>who may find it difficult to manually verify suspicious digital content.</a:t>
            </a:r>
            <a:endParaRPr sz="1450" dirty="0"/>
          </a:p>
        </p:txBody>
      </p:sp>
      <p:sp>
        <p:nvSpPr>
          <p:cNvPr id="9" name="Rounded Rectangle 8"/>
          <p:cNvSpPr/>
          <p:nvPr/>
        </p:nvSpPr>
        <p:spPr>
          <a:xfrm>
            <a:off x="8028432" y="1463040"/>
            <a:ext cx="3328416" cy="468212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28432" y="1463040"/>
            <a:ext cx="3328416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650" u="sng" dirty="0"/>
              <a:t>IMPORTANCE OF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2286000"/>
            <a:ext cx="2962656" cy="269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rPr sz="1550" i="1" dirty="0"/>
              <a:t>Severe Financial &amp; Data Loss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50" dirty="0"/>
              <a:t>• L</a:t>
            </a:r>
            <a:r>
              <a:rPr lang="en-IN" sz="1450" dirty="0" err="1"/>
              <a:t>imited</a:t>
            </a:r>
            <a:r>
              <a:rPr lang="en-IN" sz="1450" dirty="0"/>
              <a:t> access to simple, unified tools for analysing suspicious digital content before users interact with it.</a:t>
            </a:r>
            <a:endParaRPr sz="1450" dirty="0"/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50" dirty="0"/>
              <a:t>• Lack of accessible, centralized tools to verify suspicious content before clicking.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lang="en-IN" sz="1450" dirty="0"/>
              <a:t>• Early analysis can help users identify potentially risky content before interacting with it.</a:t>
            </a:r>
            <a:endParaRPr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301" y="230134"/>
            <a:ext cx="10698480" cy="995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lang="en-IN" sz="2600" dirty="0"/>
              <a:t>Existing Security Tools Have Different Strengths &amp; Coverage Across Threat Types</a:t>
            </a:r>
            <a:endParaRPr sz="2600" dirty="0"/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rPr sz="1150" dirty="0"/>
              <a:t>03. EXISTING SOLUTIONS &amp; GAP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474226"/>
              </p:ext>
            </p:extLst>
          </p:nvPr>
        </p:nvGraphicFramePr>
        <p:xfrm>
          <a:off x="593869" y="1534087"/>
          <a:ext cx="10725912" cy="4357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15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 u="sng" dirty="0"/>
                        <a:t>Feature / Capability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sz="1700" u="sng" dirty="0"/>
                        <a:t>Traditional Security Tools</a:t>
                      </a:r>
                      <a:endParaRPr sz="1700" u="sng" dirty="0"/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 sz="1700" u="sng" dirty="0"/>
                        <a:t>URL-Focused Tools</a:t>
                      </a:r>
                      <a:endParaRPr sz="1700" u="sng" dirty="0"/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700" u="sng" dirty="0"/>
                        <a:t>AI Suraksha Kavach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53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rPr sz="1450" dirty="0"/>
                        <a:t>Multi-Format Media Scanning</a:t>
                      </a:r>
                    </a:p>
                    <a:p>
                      <a:r>
                        <a:rPr sz="1450" dirty="0"/>
                        <a:t>(</a:t>
                      </a:r>
                      <a:r>
                        <a:rPr lang="en-IN" sz="1450" dirty="0"/>
                        <a:t>URL’s, Messages, E-mails, </a:t>
                      </a:r>
                      <a:r>
                        <a:rPr sz="1450" dirty="0"/>
                        <a:t>Images, Video Frames, QR Codes)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2626"/>
                          </a:solidFill>
                        </a:defRPr>
                      </a:pPr>
                      <a:r>
                        <a:rPr lang="en-IN" sz="1450" dirty="0"/>
                        <a:t>Limited / tool-dependent</a:t>
                      </a:r>
                      <a:endParaRPr sz="145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2626"/>
                          </a:solidFill>
                        </a:defRPr>
                      </a:pPr>
                      <a:r>
                        <a:rPr lang="en-IN" sz="1450" dirty="0"/>
                        <a:t>Primarily URL-focused</a:t>
                      </a:r>
                      <a:endParaRPr sz="145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A34A"/>
                          </a:solidFill>
                        </a:defRPr>
                      </a:pPr>
                      <a:r>
                        <a:rPr sz="1450" dirty="0"/>
                        <a:t>[✓] Unified 6-in-1 Multi-Modal </a:t>
                      </a:r>
                      <a:r>
                        <a:rPr lang="en-IN" sz="1450" dirty="0"/>
                        <a:t>Analysis</a:t>
                      </a:r>
                      <a:endParaRPr sz="145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53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rPr lang="en-IN" sz="1450" dirty="0"/>
                        <a:t>OCR-Based Content Analysis</a:t>
                      </a:r>
                      <a:endParaRPr sz="1450"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2626"/>
                          </a:solidFill>
                        </a:defRPr>
                      </a:pPr>
                      <a:r>
                        <a:rPr lang="en-IN" sz="1450" dirty="0"/>
                        <a:t>Tool-dependent</a:t>
                      </a:r>
                      <a:endParaRPr sz="1450"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2626"/>
                          </a:solidFill>
                        </a:defRPr>
                      </a:pPr>
                      <a:r>
                        <a:rPr lang="en-IN" sz="1450" dirty="0"/>
                        <a:t>Generally not the primary focus</a:t>
                      </a:r>
                      <a:endParaRPr sz="1450"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A34A"/>
                          </a:solidFill>
                        </a:defRPr>
                      </a:pPr>
                      <a:r>
                        <a:rPr sz="1450" dirty="0"/>
                        <a:t>[✓] Automated OCR</a:t>
                      </a:r>
                      <a:r>
                        <a:rPr lang="en-IN" sz="1450" dirty="0"/>
                        <a:t> Analysis</a:t>
                      </a:r>
                      <a:r>
                        <a:rPr sz="1450" dirty="0"/>
                        <a:t> (Tesseract + OpenCV)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53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rPr sz="1450" dirty="0"/>
                        <a:t>Contextual Risk Scoring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2626"/>
                          </a:solidFill>
                        </a:defRPr>
                      </a:pPr>
                      <a:r>
                        <a:rPr lang="en-IN" sz="1450" dirty="0"/>
                        <a:t>Tool specific technical verdicts</a:t>
                      </a:r>
                      <a:endParaRPr sz="145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45309"/>
                          </a:solidFill>
                        </a:defRPr>
                      </a:pPr>
                      <a:r>
                        <a:rPr lang="en-IN" sz="1450" dirty="0"/>
                        <a:t>URL reputation / detection data</a:t>
                      </a:r>
                      <a:endParaRPr sz="145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A34A"/>
                          </a:solidFill>
                        </a:defRPr>
                      </a:pPr>
                      <a:r>
                        <a:rPr sz="1450" dirty="0"/>
                        <a:t>[✓] 0–100 Risk Score (Safe/Warn/Danger)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153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rPr sz="1450" dirty="0"/>
                        <a:t>Actionable </a:t>
                      </a:r>
                      <a:r>
                        <a:rPr lang="en-IN" sz="1450" dirty="0"/>
                        <a:t>User</a:t>
                      </a:r>
                      <a:r>
                        <a:rPr sz="1450" dirty="0"/>
                        <a:t> Guidance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2626"/>
                          </a:solidFill>
                        </a:defRPr>
                      </a:pPr>
                      <a:r>
                        <a:rPr lang="en-IN" sz="1450" dirty="0"/>
                        <a:t>Often technical / tool-specific</a:t>
                      </a:r>
                      <a:endParaRPr sz="1450"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C2626"/>
                          </a:solidFill>
                        </a:defRPr>
                      </a:pPr>
                      <a:r>
                        <a:rPr lang="en-IN" sz="1450" dirty="0"/>
                        <a:t>Primarily scan results</a:t>
                      </a:r>
                      <a:endParaRPr sz="1450"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A34A"/>
                          </a:solidFill>
                        </a:defRPr>
                      </a:pPr>
                      <a:r>
                        <a:rPr sz="1450" dirty="0"/>
                        <a:t>[✓] Clear Findings &amp; </a:t>
                      </a:r>
                      <a:r>
                        <a:rPr lang="en-IN" sz="1450" dirty="0"/>
                        <a:t>User-oriented guidance</a:t>
                      </a:r>
                      <a:endParaRPr sz="1450"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14">
            <a:extLst>
              <a:ext uri="{FF2B5EF4-FFF2-40B4-BE49-F238E27FC236}">
                <a16:creationId xmlns:a16="http://schemas.microsoft.com/office/drawing/2014/main" id="{F0CD89EC-5B72-2DA2-CD47-A7351B3950D5}"/>
              </a:ext>
            </a:extLst>
          </p:cNvPr>
          <p:cNvSpPr/>
          <p:nvPr/>
        </p:nvSpPr>
        <p:spPr>
          <a:xfrm>
            <a:off x="685800" y="6057654"/>
            <a:ext cx="10716768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“Existing cybersecurity platforms provide powerful analysis for specific threat types, but their user experience, detection approaches, and coverage vary across platforms. AI Suraksha Kavach brings multiple types of suspicious-content analysis into a single, simplified interface designed for everyday users.”</a:t>
            </a:r>
            <a:endParaRPr sz="13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027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600" dirty="0"/>
              <a:t>AI Suraksha Kavach Quantifies Threats Into Actionable Risk Scores</a:t>
            </a:r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rPr sz="1150" dirty="0"/>
              <a:t>04. 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749039" cy="397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3A8A"/>
                </a:solidFill>
              </a:defRPr>
            </a:pPr>
            <a:r>
              <a:rPr sz="2400" dirty="0"/>
              <a:t>Platform Overview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rPr sz="1500" dirty="0"/>
              <a:t>• AI-Assisted Security Platform: Centralized threat analysis tool designed to verify content before user engagement.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rPr sz="1500" dirty="0"/>
              <a:t>• Multi-Format Ingestion: Handles URLs, messages, emails, screenshots, video frames, and QR codes.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rPr sz="1500" dirty="0"/>
              <a:t>• Automated</a:t>
            </a:r>
            <a:r>
              <a:rPr lang="en-IN" sz="1500" dirty="0"/>
              <a:t> Analysis </a:t>
            </a:r>
            <a:r>
              <a:rPr sz="1500" dirty="0"/>
              <a:t>Engine: Combines </a:t>
            </a:r>
            <a:r>
              <a:rPr lang="en-IN" sz="1500" dirty="0"/>
              <a:t>pattern- based</a:t>
            </a:r>
            <a:r>
              <a:rPr sz="1500" dirty="0"/>
              <a:t> rules, heuristic </a:t>
            </a:r>
            <a:r>
              <a:rPr lang="en-IN" sz="1500" dirty="0"/>
              <a:t>checks</a:t>
            </a:r>
            <a:r>
              <a:rPr sz="1500" dirty="0"/>
              <a:t>, and OCR </a:t>
            </a:r>
            <a:r>
              <a:rPr lang="en-IN" sz="1500" dirty="0"/>
              <a:t>based content analysis</a:t>
            </a:r>
            <a:r>
              <a:rPr sz="1500" dirty="0"/>
              <a:t>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rPr sz="1500" dirty="0"/>
              <a:t>• How It Solves The Problem: Replaces </a:t>
            </a:r>
            <a:r>
              <a:rPr lang="en-IN" sz="1500" dirty="0"/>
              <a:t>complex</a:t>
            </a:r>
            <a:r>
              <a:rPr sz="1500" dirty="0"/>
              <a:t> technical </a:t>
            </a:r>
            <a:r>
              <a:rPr lang="en-IN" sz="1500" dirty="0"/>
              <a:t>indicators</a:t>
            </a:r>
            <a:r>
              <a:rPr sz="1500" dirty="0"/>
              <a:t> with intuitive </a:t>
            </a:r>
            <a:r>
              <a:rPr lang="en-IN" sz="1500" dirty="0"/>
              <a:t>risk assessments</a:t>
            </a:r>
            <a:r>
              <a:rPr sz="1500" dirty="0"/>
              <a:t>, findings, and actionable </a:t>
            </a:r>
            <a:r>
              <a:rPr lang="en-IN" sz="1500" dirty="0"/>
              <a:t>guidance.</a:t>
            </a:r>
            <a:endParaRPr sz="1500" dirty="0"/>
          </a:p>
        </p:txBody>
      </p:sp>
      <p:sp>
        <p:nvSpPr>
          <p:cNvPr id="5" name="Rounded Rectangle 4"/>
          <p:cNvSpPr/>
          <p:nvPr/>
        </p:nvSpPr>
        <p:spPr>
          <a:xfrm>
            <a:off x="5120640" y="1463040"/>
            <a:ext cx="633679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0" y="1645920"/>
            <a:ext cx="5321970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rPr sz="2050" dirty="0"/>
              <a:t>Unified 0–100 Categorized Risk Scoring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286000"/>
            <a:ext cx="5971032" cy="7315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0" y="2377440"/>
            <a:ext cx="55778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rPr sz="1600" dirty="0"/>
              <a:t>Score Range: 0 – 39   |   STATUS: SAFE</a:t>
            </a:r>
            <a:r>
              <a:rPr lang="en-IN" sz="1600" dirty="0"/>
              <a:t> / LOW RISK</a:t>
            </a:r>
            <a:endParaRPr sz="1600" dirty="0"/>
          </a:p>
          <a:p>
            <a:pPr>
              <a:defRPr sz="1100">
                <a:solidFill>
                  <a:srgbClr val="0F172A"/>
                </a:solidFill>
              </a:defRPr>
            </a:pPr>
            <a:r>
              <a:rPr sz="1400" dirty="0"/>
              <a:t>Minimal or no </a:t>
            </a:r>
            <a:r>
              <a:rPr lang="en-IN" sz="1400" dirty="0"/>
              <a:t>major </a:t>
            </a:r>
            <a:r>
              <a:rPr sz="1400" dirty="0"/>
              <a:t>threat detected.</a:t>
            </a:r>
            <a:r>
              <a:rPr lang="en-IN" sz="1400" dirty="0"/>
              <a:t> Proceed with normal caution</a:t>
            </a:r>
            <a:r>
              <a:rPr sz="1400"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3108960"/>
            <a:ext cx="5971032" cy="731520"/>
          </a:xfrm>
          <a:prstGeom prst="roundRect">
            <a:avLst/>
          </a:prstGeom>
          <a:solidFill>
            <a:srgbClr val="FEF08A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3200400"/>
            <a:ext cx="55778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5309"/>
                </a:solidFill>
              </a:defRPr>
            </a:pPr>
            <a:r>
              <a:rPr sz="1600" dirty="0"/>
              <a:t>Score Range: 40 – 69   |   STATUS: WARNING</a:t>
            </a:r>
            <a:r>
              <a:rPr lang="en-IN" sz="1600" dirty="0"/>
              <a:t> / SUSPICIOUS</a:t>
            </a:r>
            <a:endParaRPr sz="1600" dirty="0"/>
          </a:p>
          <a:p>
            <a:pPr>
              <a:defRPr sz="1100">
                <a:solidFill>
                  <a:srgbClr val="0F172A"/>
                </a:solidFill>
              </a:defRPr>
            </a:pPr>
            <a:r>
              <a:rPr sz="1400" dirty="0"/>
              <a:t>Suspicious indicators </a:t>
            </a:r>
            <a:r>
              <a:rPr lang="en-IN" sz="1400" dirty="0"/>
              <a:t>detected</a:t>
            </a:r>
            <a:r>
              <a:rPr sz="1400" dirty="0"/>
              <a:t>. Exercise caution</a:t>
            </a:r>
            <a:r>
              <a:rPr lang="en-IN" sz="1400" dirty="0"/>
              <a:t> and verify before clicking.</a:t>
            </a:r>
            <a:endParaRPr sz="1400" dirty="0"/>
          </a:p>
        </p:txBody>
      </p:sp>
      <p:sp>
        <p:nvSpPr>
          <p:cNvPr id="11" name="Rounded Rectangle 10"/>
          <p:cNvSpPr/>
          <p:nvPr/>
        </p:nvSpPr>
        <p:spPr>
          <a:xfrm>
            <a:off x="5303520" y="3931920"/>
            <a:ext cx="5971032" cy="7315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4023360"/>
            <a:ext cx="55778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rPr sz="1600" dirty="0"/>
              <a:t>Score Range: 70 – 100   |   STATUS: DANGER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rPr lang="en-IN" sz="1400" dirty="0"/>
              <a:t>Multiple high risk indicators</a:t>
            </a:r>
            <a:r>
              <a:rPr sz="1400" dirty="0"/>
              <a:t> detected. </a:t>
            </a:r>
            <a:r>
              <a:rPr lang="en-IN" sz="1400" dirty="0"/>
              <a:t>Don’t interact &amp; b</a:t>
            </a:r>
            <a:r>
              <a:rPr sz="1400" dirty="0"/>
              <a:t>lock immediately.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4846320"/>
            <a:ext cx="5971032" cy="118872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0" y="4937760"/>
            <a:ext cx="557784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rPr sz="1500" dirty="0">
                <a:solidFill>
                  <a:schemeClr val="bg1"/>
                </a:solidFill>
              </a:rPr>
              <a:t>OUTPUT VERDICT GENERATED: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sz="1300" dirty="0"/>
              <a:t>• Findings: Unsecured HTTP connection + Suspicious 'OTP verification' request.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rPr sz="1300" dirty="0"/>
              <a:t>• Security Advice: Do not enter sensitive credentials. </a:t>
            </a:r>
            <a:r>
              <a:rPr lang="en-IN" sz="1300" dirty="0"/>
              <a:t>Verify the sender before taking further actions</a:t>
            </a:r>
            <a:r>
              <a:rPr sz="13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027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600" dirty="0"/>
              <a:t>Comprehensive 360° Protection Across 6 Digital Attack Vectors</a:t>
            </a:r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rPr sz="1150" dirty="0"/>
              <a:t>05. 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62656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</a:defRPr>
            </a:pPr>
            <a:r>
              <a:rPr sz="2400" dirty="0"/>
              <a:t>URL Scanner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rPr sz="1500" dirty="0"/>
              <a:t>Analyzes links for unsecured HTTP, IP addresses, excessive subdomains, and credential keywords (OTP, PIN, CVV).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08576" y="1645920"/>
            <a:ext cx="2962656" cy="125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</a:defRPr>
            </a:pPr>
            <a:r>
              <a:rPr sz="2400" dirty="0"/>
              <a:t>Message Scanner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rPr sz="1500" dirty="0"/>
              <a:t>Detects social engineering, urgency prompts, banking scam text, fake reward alerts, and suspicious links.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463040"/>
            <a:ext cx="3328416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2" y="1645920"/>
            <a:ext cx="2962656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</a:defRPr>
            </a:pPr>
            <a:r>
              <a:rPr sz="2400" dirty="0"/>
              <a:t>Email Scanner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rPr sz="1500" dirty="0"/>
              <a:t>Identifies phishing patterns, credential harvesting, urgent account verification, and fake bank warnings.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328416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2962656" cy="125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</a:defRPr>
            </a:pPr>
            <a:r>
              <a:rPr sz="2400" dirty="0"/>
              <a:t>Image Scanner (OCR)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rPr sz="1500" dirty="0"/>
              <a:t>Extracts text from uploaded images (JPG, PNG, WEBP) using OCR to analyze hidden threat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3931920"/>
            <a:ext cx="3328416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4114800"/>
            <a:ext cx="2962656" cy="125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</a:defRPr>
            </a:pPr>
            <a:r>
              <a:rPr sz="2400" dirty="0"/>
              <a:t>Video Scanner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rPr sz="1500" dirty="0"/>
              <a:t>Extracts frames sequentially, applies OCR on visible frame text, and evaluates risk indicators.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3931920"/>
            <a:ext cx="3328416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4114800"/>
            <a:ext cx="2962656" cy="125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</a:defRPr>
            </a:pPr>
            <a:r>
              <a:rPr sz="2400" dirty="0"/>
              <a:t>QR Code Scanner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rPr sz="1500" dirty="0"/>
              <a:t>Decodes embedded QR code payload data (URLs or text) to inspect for malicious redirects.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217920"/>
            <a:ext cx="10716768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6236208"/>
            <a:ext cx="906004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BENEFITS: Single platform threat verification + Full </a:t>
            </a:r>
            <a:r>
              <a:rPr sz="15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Supabase</a:t>
            </a:r>
            <a:r>
              <a:rPr sz="1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scan history with review &amp; deletion controls.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027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600" dirty="0"/>
              <a:t>Multi-Modal AI </a:t>
            </a:r>
            <a:r>
              <a:rPr lang="en-IN" sz="2600" dirty="0"/>
              <a:t> Detection </a:t>
            </a:r>
            <a:r>
              <a:rPr sz="2600" dirty="0"/>
              <a:t>&amp; </a:t>
            </a:r>
            <a:r>
              <a:rPr lang="en-IN" sz="2600" dirty="0"/>
              <a:t>Explainable Threat Intelligence</a:t>
            </a:r>
            <a:endParaRPr sz="2600" dirty="0"/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rPr sz="1150" dirty="0"/>
              <a:t>06. USP &amp; INNOVATION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328416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700" dirty="0"/>
              <a:t>WHAT MAKES IT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77440"/>
            <a:ext cx="2871216" cy="1633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rPr i="1" dirty="0"/>
              <a:t>Multi-Modal 6-in-1 </a:t>
            </a:r>
            <a:r>
              <a:rPr lang="en-IN" i="1" dirty="0"/>
              <a:t>Protection</a:t>
            </a:r>
            <a:endParaRPr i="1" dirty="0"/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lang="en-IN" sz="1450" dirty="0" err="1"/>
              <a:t>Analyze</a:t>
            </a:r>
            <a:r>
              <a:rPr sz="1450" dirty="0"/>
              <a:t>s</a:t>
            </a:r>
            <a:r>
              <a:rPr lang="en-IN" sz="1450" dirty="0"/>
              <a:t> URL’s,</a:t>
            </a:r>
            <a:r>
              <a:rPr sz="1450" dirty="0"/>
              <a:t> text messages, web links, email content, image</a:t>
            </a:r>
            <a:r>
              <a:rPr lang="en-IN" sz="1450" dirty="0"/>
              <a:t>s, </a:t>
            </a:r>
            <a:r>
              <a:rPr sz="1450" dirty="0"/>
              <a:t> screenshots, video frames, and physical QR codes in </a:t>
            </a:r>
            <a:r>
              <a:rPr lang="en-IN" sz="1450" dirty="0"/>
              <a:t>one </a:t>
            </a:r>
            <a:r>
              <a:rPr sz="1450" dirty="0"/>
              <a:t>single </a:t>
            </a:r>
            <a:r>
              <a:rPr lang="en-IN" sz="1450" dirty="0"/>
              <a:t>unified security platform</a:t>
            </a:r>
            <a:r>
              <a:rPr sz="1450"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46304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79976" y="1463040"/>
            <a:ext cx="3328416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700" dirty="0"/>
              <a:t>INNOVATIVE ASPECT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8576" y="2377440"/>
            <a:ext cx="2871216" cy="1633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rPr lang="en-IN" i="1" dirty="0"/>
              <a:t>AI-Powered</a:t>
            </a:r>
            <a:r>
              <a:rPr i="1" dirty="0"/>
              <a:t> OCR</a:t>
            </a:r>
            <a:r>
              <a:rPr lang="en-IN" i="1" dirty="0"/>
              <a:t> &amp; Vision</a:t>
            </a:r>
            <a:endParaRPr i="1" dirty="0"/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450" dirty="0"/>
              <a:t>Applies OCR text extraction</a:t>
            </a:r>
            <a:r>
              <a:rPr lang="en-IN" sz="1450" dirty="0"/>
              <a:t> and extracts hidden text from images, screenshots and video frames to detect threats that ordinary scanners may miss</a:t>
            </a:r>
            <a:r>
              <a:rPr sz="1450"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46304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28432" y="1463040"/>
            <a:ext cx="3328416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sz="1700" dirty="0"/>
              <a:t>ADVANTAGE OVE</a:t>
            </a:r>
            <a:r>
              <a:rPr lang="en-IN" sz="1700" dirty="0"/>
              <a:t>R CONVENTIONAL TOOLS</a:t>
            </a:r>
            <a:endParaRPr sz="1700" dirty="0"/>
          </a:p>
        </p:txBody>
      </p:sp>
      <p:sp>
        <p:nvSpPr>
          <p:cNvPr id="11" name="TextBox 10"/>
          <p:cNvSpPr txBox="1"/>
          <p:nvPr/>
        </p:nvSpPr>
        <p:spPr>
          <a:xfrm>
            <a:off x="8257032" y="2377440"/>
            <a:ext cx="2871216" cy="1410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rPr lang="en-IN" i="1" dirty="0"/>
              <a:t>Explainable Risk Analysis</a:t>
            </a:r>
            <a:endParaRPr i="1" dirty="0"/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lang="en-IN" sz="1450" dirty="0"/>
              <a:t>Instead of only showing ‘Safe/Unsafe’ , it provides risk level, detected threats and clear security recommendations.</a:t>
            </a:r>
            <a:endParaRPr sz="1450" dirty="0"/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D4BC0D94-CAA2-7A67-3F3C-6055EA8D9A5C}"/>
              </a:ext>
            </a:extLst>
          </p:cNvPr>
          <p:cNvSpPr/>
          <p:nvPr/>
        </p:nvSpPr>
        <p:spPr>
          <a:xfrm>
            <a:off x="3831336" y="6400800"/>
            <a:ext cx="4425696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“DETECT. EXPLAIN. PROTECT.”</a:t>
            </a:r>
            <a:endParaRPr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027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600" dirty="0"/>
              <a:t>Enterprise-Grade Threat Protection for Diverse User Segments</a:t>
            </a:r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rPr sz="1150" dirty="0"/>
              <a:t>07. TARGET USERS &amp;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72701"/>
            <a:ext cx="3328416" cy="52195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2871216" cy="4157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rPr lang="en-IN" sz="2600" u="sng" dirty="0"/>
              <a:t>🛡️ </a:t>
            </a:r>
            <a:r>
              <a:rPr sz="2600" u="sng" dirty="0"/>
              <a:t>Everyday</a:t>
            </a:r>
            <a:r>
              <a:rPr lang="en-IN" sz="2600" u="sng" dirty="0"/>
              <a:t> </a:t>
            </a:r>
            <a:r>
              <a:rPr sz="2600" u="sng" dirty="0"/>
              <a:t>Consumer</a:t>
            </a:r>
            <a:endParaRPr lang="en-IN" sz="2600" u="sng" dirty="0"/>
          </a:p>
          <a:p>
            <a:pPr>
              <a:spcAft>
                <a:spcPts val="1600"/>
              </a:spcAft>
              <a:defRPr sz="1100" b="1">
                <a:solidFill>
                  <a:srgbClr val="2563EB"/>
                </a:solidFill>
              </a:defRPr>
            </a:pPr>
            <a:r>
              <a:rPr lang="en-IN" sz="1300" i="1" dirty="0"/>
              <a:t> </a:t>
            </a:r>
            <a:r>
              <a:rPr lang="en-IN" sz="1500" i="1" dirty="0"/>
              <a:t>Where: Mobile, SMS, WhatsApp &amp; Browsers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rPr sz="1550" dirty="0"/>
              <a:t>Real-World Use Case:</a:t>
            </a:r>
            <a:endParaRPr sz="15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Scenario</a:t>
            </a:r>
            <a:r>
              <a:rPr sz="1500" dirty="0"/>
              <a:t>:</a:t>
            </a:r>
            <a:r>
              <a:rPr lang="en-IN" sz="1500" dirty="0"/>
              <a:t> A user receives a suspicious WhatsApp message, SMS, QR code or link claiming to offer a prize, job, cashback or urgent account update.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endParaRPr lang="en-IN" sz="1500" dirty="0"/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lang="en-US" sz="1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Suraksha Kavach</a:t>
            </a:r>
            <a:r>
              <a:rPr lang="en-US" sz="1500" dirty="0"/>
              <a:t>: Detects suspicious patterns and warns the user before they interact with the threat.</a:t>
            </a:r>
            <a:endParaRPr sz="1500" dirty="0"/>
          </a:p>
        </p:txBody>
      </p:sp>
      <p:sp>
        <p:nvSpPr>
          <p:cNvPr id="5" name="Rounded Rectangle 4"/>
          <p:cNvSpPr/>
          <p:nvPr/>
        </p:nvSpPr>
        <p:spPr>
          <a:xfrm>
            <a:off x="4379976" y="1272700"/>
            <a:ext cx="3328416" cy="52195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08576" y="1737360"/>
            <a:ext cx="2871216" cy="4557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rPr lang="en-IN" sz="2600" u="sng" dirty="0"/>
              <a:t>🛒  </a:t>
            </a:r>
            <a:r>
              <a:rPr sz="2600" u="sng" dirty="0"/>
              <a:t>E-Commerce</a:t>
            </a:r>
            <a:r>
              <a:rPr lang="en-IN" sz="2600" u="sng" dirty="0"/>
              <a:t> &amp; Digital Payment User</a:t>
            </a:r>
            <a:endParaRPr sz="2600" u="sng" dirty="0"/>
          </a:p>
          <a:p>
            <a:pPr>
              <a:spcAft>
                <a:spcPts val="1600"/>
              </a:spcAft>
              <a:defRPr sz="1100" b="1">
                <a:solidFill>
                  <a:srgbClr val="2563EB"/>
                </a:solidFill>
              </a:defRPr>
            </a:pPr>
            <a:r>
              <a:rPr sz="1500" i="1" dirty="0"/>
              <a:t>Where: </a:t>
            </a:r>
            <a:r>
              <a:rPr lang="en-IN" sz="1500" i="1" dirty="0"/>
              <a:t>UPI, Banking, Shopping &amp; Payment Portals</a:t>
            </a:r>
            <a:endParaRPr sz="1500" i="1" dirty="0"/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rPr sz="1550" dirty="0"/>
              <a:t>Real-World Use Case: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lang="en-IN" sz="1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Scenario</a:t>
            </a:r>
            <a:r>
              <a:rPr sz="1500" dirty="0"/>
              <a:t>:</a:t>
            </a:r>
            <a:r>
              <a:rPr lang="en-IN" sz="1500" dirty="0"/>
              <a:t> A user receives a fake payment request, phishing URL, fraudulent invoice or QR code designed to steal financial information.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endParaRPr lang="en-IN" sz="1500" dirty="0"/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lang="en-IN" sz="1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Suraksha Kavach</a:t>
            </a:r>
            <a:r>
              <a:rPr lang="en-IN" sz="1500" dirty="0"/>
              <a:t>: </a:t>
            </a:r>
            <a:r>
              <a:rPr lang="en-IN" sz="1500" dirty="0" err="1"/>
              <a:t>Analyzes</a:t>
            </a:r>
            <a:r>
              <a:rPr lang="en-IN" sz="1500" dirty="0"/>
              <a:t> URLs, messages, QR codes and digital content to detect potential fraud and instantly alert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272701"/>
            <a:ext cx="3328416" cy="52195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57032" y="1737360"/>
            <a:ext cx="2871216" cy="4157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rPr lang="en-IN" sz="2600" u="sng" dirty="0"/>
              <a:t>🏢 </a:t>
            </a:r>
            <a:r>
              <a:rPr sz="2600" u="sng" dirty="0"/>
              <a:t>Enterprise</a:t>
            </a:r>
            <a:r>
              <a:rPr lang="en-IN" sz="2600" u="sng" dirty="0"/>
              <a:t> &amp; Organization</a:t>
            </a:r>
            <a:endParaRPr sz="2600" u="sng" dirty="0"/>
          </a:p>
          <a:p>
            <a:pPr>
              <a:spcAft>
                <a:spcPts val="1600"/>
              </a:spcAft>
              <a:defRPr sz="1100" b="1">
                <a:solidFill>
                  <a:srgbClr val="2563EB"/>
                </a:solidFill>
              </a:defRPr>
            </a:pPr>
            <a:r>
              <a:rPr sz="1500" i="1" dirty="0"/>
              <a:t>Where: </a:t>
            </a:r>
            <a:r>
              <a:rPr lang="en-IN" sz="1500" i="1" dirty="0"/>
              <a:t>Emails, Workstations &amp; Business Communication</a:t>
            </a:r>
            <a:endParaRPr sz="1500" i="1" dirty="0"/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rPr sz="1550" dirty="0"/>
              <a:t>Real-World Use Case: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sz="1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Scenario</a:t>
            </a:r>
            <a:r>
              <a:rPr sz="1400" dirty="0"/>
              <a:t>: </a:t>
            </a:r>
            <a:r>
              <a:rPr lang="en-IN" sz="1500" dirty="0"/>
              <a:t>An employee receives a suspicious vendor email, malicious attachment, phishing link or QR code embedded in a document.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endParaRPr lang="en-IN" sz="1500" dirty="0"/>
          </a:p>
          <a:p>
            <a:pPr>
              <a:defRPr sz="1200">
                <a:solidFill>
                  <a:srgbClr val="0F172A"/>
                </a:solidFill>
              </a:defRPr>
            </a:pPr>
            <a:r>
              <a:rPr lang="en-US" sz="1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Suraksha Kavach</a:t>
            </a:r>
            <a:r>
              <a:rPr lang="en-US" sz="1500" dirty="0"/>
              <a:t>: Screens potentially harmful content and alerts employees before a phishing or social-engineering attack can cause damage.</a:t>
            </a:r>
            <a:endParaRPr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027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600" dirty="0"/>
              <a:t>Scalable Multi-Layer Architecture for Real-Time Threat Analysis</a:t>
            </a:r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rPr sz="1150" dirty="0"/>
              <a:t>08.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16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56032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2000" dirty="0"/>
              <a:t>Frontend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600200"/>
            <a:ext cx="7772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sz="1600" dirty="0"/>
              <a:t>React.js, Next.js, HTML5, Tailwind CSS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 sz="1400" b="1" i="1" dirty="0"/>
              <a:t>Responsive web dashboard, upload interfaces, and instant verdict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716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256032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2000" dirty="0"/>
              <a:t>Backend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788920"/>
            <a:ext cx="7772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sz="1600" dirty="0"/>
              <a:t>Python (</a:t>
            </a:r>
            <a:r>
              <a:rPr sz="1600" dirty="0" err="1"/>
              <a:t>FastAPI</a:t>
            </a:r>
            <a:r>
              <a:rPr sz="1600" dirty="0"/>
              <a:t> / Flask) &amp; Node.js API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 sz="1400" b="1" i="1" dirty="0"/>
              <a:t>Routes multi-content inputs to specialized scanners and orchestrates threat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16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256032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2000" dirty="0"/>
              <a:t>AI &amp; Computer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977640"/>
            <a:ext cx="7772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sz="1600" dirty="0"/>
              <a:t>Tesseract OCR &amp; OpenCV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 sz="1400" b="1" i="1" dirty="0"/>
              <a:t>Processes images and extracts sequential video frames for optical character recognition.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716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5029200"/>
            <a:ext cx="2560320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2000" dirty="0"/>
              <a:t>Database &amp;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166360"/>
            <a:ext cx="7772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sz="1600" dirty="0" err="1"/>
              <a:t>Supabase</a:t>
            </a:r>
            <a:r>
              <a:rPr sz="1600" dirty="0"/>
              <a:t> (PostgreSQL)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 sz="1400" b="1" i="1" dirty="0"/>
              <a:t>Secure scan history persistence, record management, and user deletion controls.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995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600" dirty="0"/>
              <a:t>Seamless Data Pipeline </a:t>
            </a:r>
            <a:r>
              <a:rPr lang="en-IN" sz="2600" dirty="0"/>
              <a:t>From User</a:t>
            </a:r>
            <a:r>
              <a:rPr sz="2600" dirty="0"/>
              <a:t> Inputs to </a:t>
            </a:r>
            <a:r>
              <a:rPr lang="en-IN" sz="2600" dirty="0"/>
              <a:t>Intelligent </a:t>
            </a:r>
            <a:r>
              <a:rPr sz="2600" dirty="0"/>
              <a:t>Threat </a:t>
            </a:r>
            <a:r>
              <a:rPr lang="en-IN" sz="2600" dirty="0"/>
              <a:t>Assessment</a:t>
            </a:r>
            <a:endParaRPr sz="2600" dirty="0"/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rPr sz="1150" dirty="0"/>
              <a:t>09. SYSTEM ARCHITECTURE /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23160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2100" dirty="0"/>
              <a:t>1. User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60320"/>
            <a:ext cx="21488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600" dirty="0"/>
              <a:t>Upload</a:t>
            </a:r>
            <a:r>
              <a:rPr lang="en-IN" sz="1600" dirty="0"/>
              <a:t> or enter</a:t>
            </a:r>
            <a:r>
              <a:rPr sz="1600" dirty="0"/>
              <a:t> URL, Message, Email, Image, Video, or QR code via React frontend.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29000" y="1645920"/>
            <a:ext cx="242316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2100" dirty="0"/>
              <a:t>2. Backend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560320"/>
            <a:ext cx="21488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lang="en-IN" sz="1600" dirty="0"/>
              <a:t>B</a:t>
            </a:r>
            <a:r>
              <a:rPr sz="1600" dirty="0"/>
              <a:t>ackend validates</a:t>
            </a:r>
            <a:r>
              <a:rPr lang="en-IN" sz="1600" dirty="0"/>
              <a:t> the</a:t>
            </a:r>
            <a:r>
              <a:rPr sz="1600" dirty="0"/>
              <a:t> input</a:t>
            </a:r>
            <a:r>
              <a:rPr lang="en-IN" sz="1600" dirty="0"/>
              <a:t>,</a:t>
            </a:r>
            <a:r>
              <a:rPr sz="1600" dirty="0"/>
              <a:t> extracts </a:t>
            </a:r>
            <a:r>
              <a:rPr lang="en-IN" sz="1600" dirty="0"/>
              <a:t>texts/QR data, performs OCR and processes </a:t>
            </a:r>
            <a:r>
              <a:rPr sz="1600" dirty="0"/>
              <a:t>video frames</a:t>
            </a:r>
            <a:r>
              <a:rPr lang="en-IN" sz="1600" dirty="0"/>
              <a:t>.</a:t>
            </a:r>
            <a:endParaRPr sz="1600" dirty="0"/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242316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2100" dirty="0"/>
              <a:t>3. Risk Engine /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560320"/>
            <a:ext cx="21488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lang="en-IN" sz="1600" dirty="0" err="1"/>
              <a:t>Analyzes</a:t>
            </a:r>
            <a:r>
              <a:rPr lang="en-IN" sz="1600" dirty="0"/>
              <a:t> extracted content using AI/ML models and c</a:t>
            </a:r>
            <a:r>
              <a:rPr sz="1600" dirty="0" err="1"/>
              <a:t>alculates</a:t>
            </a:r>
            <a:r>
              <a:rPr sz="1600" dirty="0"/>
              <a:t> 0–100 threat score via </a:t>
            </a:r>
            <a:r>
              <a:rPr lang="en-IN" sz="1600" dirty="0"/>
              <a:t>threat indicators</a:t>
            </a:r>
            <a:r>
              <a:rPr sz="1600" dirty="0"/>
              <a:t> and pattern </a:t>
            </a:r>
            <a:r>
              <a:rPr lang="en-IN" sz="1600" dirty="0"/>
              <a:t>based detection</a:t>
            </a:r>
            <a:r>
              <a:rPr sz="1600"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645920"/>
            <a:ext cx="2423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23960" y="1645920"/>
            <a:ext cx="2423160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2100" dirty="0"/>
              <a:t>4. Output Verdict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560320"/>
            <a:ext cx="21488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rPr sz="1600" dirty="0"/>
              <a:t>Displays Risk Score, Threat Status,</a:t>
            </a:r>
            <a:r>
              <a:rPr lang="en-IN" sz="1600" dirty="0"/>
              <a:t> </a:t>
            </a:r>
            <a:r>
              <a:rPr sz="1600" dirty="0"/>
              <a:t>Detection Findings &amp;</a:t>
            </a:r>
            <a:r>
              <a:rPr lang="en-IN" sz="1600" dirty="0"/>
              <a:t> Safety Recommendations which are to be followed</a:t>
            </a:r>
            <a:r>
              <a:rPr sz="1600"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6217920"/>
            <a:ext cx="10716768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6236208"/>
            <a:ext cx="789934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lang="en-IN" sz="1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SECURE DATA LAYER</a:t>
            </a:r>
            <a:r>
              <a:rPr sz="1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IN" sz="1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Stores scan history, results, findings and timestamps with controlled access</a:t>
            </a:r>
            <a:r>
              <a:rPr sz="15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027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600" dirty="0"/>
              <a:t>Scaling From Prototype to Real-Time Threat Ecosystem</a:t>
            </a:r>
          </a:p>
          <a:p>
            <a:pPr>
              <a:spcBef>
                <a:spcPts val="2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rPr sz="1150" dirty="0"/>
              <a:t>10. CONCLUSION &amp; 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3599"/>
            <a:ext cx="5029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663440" cy="3667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A8A"/>
                </a:solidFill>
              </a:defRPr>
            </a:pPr>
            <a:r>
              <a:rPr sz="2400" dirty="0"/>
              <a:t>Project Conclusion &amp; Objectives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rPr sz="1500" dirty="0"/>
              <a:t>• Summary: AI Suraksha Kavach provides a user-friendly, accessible first line of defense against online scams and social engineering.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rPr sz="1500" dirty="0"/>
              <a:t>• </a:t>
            </a:r>
            <a:r>
              <a:rPr lang="en-IN" sz="1500" dirty="0"/>
              <a:t>Explainable </a:t>
            </a:r>
            <a:r>
              <a:rPr sz="1500" dirty="0"/>
              <a:t>security: </a:t>
            </a:r>
            <a:r>
              <a:rPr lang="en-IN" sz="1500" dirty="0"/>
              <a:t>Converts complex threat analysis into </a:t>
            </a:r>
            <a:r>
              <a:rPr sz="1500" dirty="0"/>
              <a:t> clear risk scores and human-understandable safety advice.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rPr sz="1500" dirty="0"/>
              <a:t>• Multi-</a:t>
            </a:r>
            <a:r>
              <a:rPr lang="en-IN" sz="1500" dirty="0"/>
              <a:t>Modal</a:t>
            </a:r>
            <a:r>
              <a:rPr sz="1500" dirty="0"/>
              <a:t> Security: Covers 6 major attack vectors including </a:t>
            </a:r>
            <a:r>
              <a:rPr lang="en-IN" sz="1500" dirty="0"/>
              <a:t>URL’s, Messages, Emails, Images, Videos </a:t>
            </a:r>
            <a:r>
              <a:rPr sz="1500" dirty="0"/>
              <a:t>an</a:t>
            </a:r>
            <a:r>
              <a:rPr lang="en-IN" sz="1500" dirty="0"/>
              <a:t>d QR codes</a:t>
            </a:r>
            <a:r>
              <a:rPr sz="1500" dirty="0"/>
              <a:t>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rPr sz="1500" dirty="0"/>
              <a:t>• </a:t>
            </a:r>
            <a:r>
              <a:rPr lang="en-IN" sz="1500" dirty="0"/>
              <a:t>Privacy &amp; Scan History</a:t>
            </a:r>
            <a:r>
              <a:rPr sz="1500" dirty="0"/>
              <a:t>: Stores historical scans in </a:t>
            </a:r>
            <a:r>
              <a:rPr sz="1500" dirty="0" err="1"/>
              <a:t>Supabase</a:t>
            </a:r>
            <a:r>
              <a:rPr sz="1500" dirty="0"/>
              <a:t> with complete user privacy controls</a:t>
            </a:r>
            <a:r>
              <a:rPr lang="en-IN" sz="1500" dirty="0"/>
              <a:t> over their data</a:t>
            </a:r>
            <a:r>
              <a:rPr sz="1500"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25896" y="1233599"/>
            <a:ext cx="541324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rPr sz="2400" dirty="0"/>
              <a:t>Future Roadmap Enhancements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rPr sz="1500" dirty="0"/>
              <a:t>• Advanced AI/ML phishing detection models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rPr sz="1500" dirty="0"/>
              <a:t>• Speech and audio threat analysis in videos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rPr sz="1500" dirty="0"/>
              <a:t>• Deepfake detection &amp; malware scanning modules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rPr sz="1500" dirty="0"/>
              <a:t>• Real-time threat intelligence API integration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rPr sz="1500" dirty="0"/>
              <a:t>• Dedicated Browser Extension for live URL checks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rPr sz="1500" dirty="0"/>
              <a:t>• Mobile application overlay for SMS &amp; QR protection</a:t>
            </a:r>
          </a:p>
        </p:txBody>
      </p:sp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53476B66-B855-0AC5-8BAF-720BDE334E23}"/>
              </a:ext>
            </a:extLst>
          </p:cNvPr>
          <p:cNvSpPr/>
          <p:nvPr/>
        </p:nvSpPr>
        <p:spPr>
          <a:xfrm>
            <a:off x="737616" y="6292061"/>
            <a:ext cx="10716768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“</a:t>
            </a:r>
            <a:r>
              <a:rPr lang="en-IN" b="1" i="1" dirty="0"/>
              <a:t>AI SURAKSHA KAVACH </a:t>
            </a:r>
            <a:r>
              <a:rPr lang="en-IN" dirty="0"/>
              <a:t>--- </a:t>
            </a:r>
            <a:r>
              <a:rPr lang="en-US" u="sng" dirty="0"/>
              <a:t>Stay Alert. Stay Secure. Stay Protected</a:t>
            </a:r>
            <a:r>
              <a:rPr lang="en-IN" dirty="0"/>
              <a:t>.”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1497</Words>
  <Application>Microsoft Office PowerPoint</Application>
  <PresentationFormat>Widescreen</PresentationFormat>
  <Paragraphs>154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Algerian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Tirtha Banerjee</dc:creator>
  <cp:keywords/>
  <dc:description>generated using python-pptx</dc:description>
  <cp:lastModifiedBy>Tirtha Banerjee</cp:lastModifiedBy>
  <cp:revision>31</cp:revision>
  <dcterms:created xsi:type="dcterms:W3CDTF">2013-01-27T09:14:16Z</dcterms:created>
  <dcterms:modified xsi:type="dcterms:W3CDTF">2026-09-23T12:13:50Z</dcterms:modified>
  <cp:category/>
</cp:coreProperties>
</file>